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3891200" cy="24688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200" cy="24688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42428160" cy="2468880"/>
          </a:xfrm>
          <a:prstGeom prst="roundRect">
            <a:avLst/>
          </a:prstGeom>
          <a:solidFill>
            <a:srgbClr val="0F2042"/>
          </a:solidFill>
          <a:ln w="381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548640" tIns="228600"/>
          <a:lstStyle/>
          <a:p>
            <a:pPr algn="ctr">
              <a:defRPr b="1" sz="3600">
                <a:solidFill>
                  <a:srgbClr val="FFFFFF"/>
                </a:solidFill>
              </a:defRPr>
            </a:pPr>
            <a:r>
              <a:t>ThinkOrQuit: Sequential Conformal Optimal Stopping and Selective Abstention for Reliable LLMs</a:t>
            </a:r>
          </a:p>
          <a:p>
            <a:pPr>
              <a:spcBef>
                <a:spcPts val="800"/>
              </a:spcBef>
              <a:defRPr sz="2000" b="1">
                <a:solidFill>
                  <a:srgbClr val="5EEAD4"/>
                </a:solidFill>
              </a:defRPr>
            </a:pPr>
            <a:r>
              <a:t>A Distribution-Free Framework for Balancing Selective Risk, Reasoning Compute, and Epistemic Abstention</a:t>
            </a:r>
          </a:p>
          <a:p>
            <a:pPr>
              <a:spcBef>
                <a:spcPts val="600"/>
              </a:spcBef>
              <a:defRPr sz="1500">
                <a:solidFill>
                  <a:srgbClr val="E2E8F0"/>
                </a:solidFill>
              </a:defRPr>
            </a:pPr>
            <a:r>
              <a:t>Undergraduate Research Project | Validated across GSM8K, MATH, and AbstentionBench | 100% Auditable Registry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200400"/>
            <a:ext cx="10195560" cy="6217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3200400"/>
            <a:ext cx="10195560" cy="548640"/>
          </a:xfrm>
          <a:prstGeom prst="rect">
            <a:avLst/>
          </a:prstGeom>
          <a:solidFill>
            <a:srgbClr val="0F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1. RESEARCH MOTIVATION &amp; FAILURES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721607"/>
            <a:ext cx="1019556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794760"/>
            <a:ext cx="9646920" cy="5532120"/>
          </a:xfrm>
          <a:prstGeom prst="rect">
            <a:avLst/>
          </a:prstGeom>
          <a:noFill/>
        </p:spPr>
        <p:txBody>
          <a:bodyPr wrap="square" lIns="0" rIns="0" tIns="91440" bIns="0">
            <a:spAutoFit/>
          </a:bodyPr>
          <a:lstStyle/>
          <a:p>
            <a:pPr>
              <a:defRPr sz="1300">
                <a:solidFill>
                  <a:srgbClr val="0F172A"/>
                </a:solidFill>
              </a:defRPr>
            </a:pPr>
            <a:r>
              <a:t>Large Reasoning Models (LRMs) spend test-time compute by rolling out long Chain-of-Thought (CoT) sequences. However, uniform compute allocation causes two severe failure modes:</a:t>
            </a:r>
          </a:p>
          <a:p>
            <a:pPr>
              <a:spcBef>
                <a:spcPts val="800"/>
              </a:spcBef>
              <a:defRPr b="1" sz="1350">
                <a:solidFill>
                  <a:srgbClr val="0F2042"/>
                </a:solidFill>
              </a:defRPr>
            </a:pPr>
            <a:r>
              <a:t>1. Overthinking Pathology:</a:t>
            </a:r>
          </a:p>
          <a:p>
            <a:pPr>
              <a:defRPr sz="1250">
                <a:solidFill>
                  <a:srgbClr val="475569"/>
                </a:solidFill>
              </a:defRPr>
            </a:pPr>
            <a:r>
              <a:t>• Generating thousands of redundant tokens on simple arithmetic.</a:t>
            </a:r>
            <a:br/>
            <a:r>
              <a:t>• Induces circular reasoning and hallucinations that degrade accuracy (Yang et al., DEER 2025; Huang et al., AdaCtrl 2025).</a:t>
            </a:r>
          </a:p>
          <a:p>
            <a:pPr>
              <a:spcBef>
                <a:spcPts val="800"/>
              </a:spcBef>
              <a:defRPr b="1" sz="1350">
                <a:solidFill>
                  <a:srgbClr val="DC2626"/>
                </a:solidFill>
              </a:defRPr>
            </a:pPr>
            <a:r>
              <a:t>2. Catastrophic Overconfidence on Unsolvable Queries:</a:t>
            </a:r>
          </a:p>
          <a:p>
            <a:pPr>
              <a:defRPr sz="1250">
                <a:solidFill>
                  <a:srgbClr val="475569"/>
                </a:solidFill>
              </a:defRPr>
            </a:pPr>
            <a:r>
              <a:t>• When presented with unanswerable or contradictory premises, reasoning models fail to abstain.</a:t>
            </a:r>
            <a:br/>
            <a:r>
              <a:t>• Models exhaust full compute budgets and hallucinate answers with high verbalized certainty (Kirichenko et al., AbstentionBench, Meta FAIR 2025).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9692640"/>
            <a:ext cx="10195560" cy="6583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9692640"/>
            <a:ext cx="10195560" cy="548640"/>
          </a:xfrm>
          <a:prstGeom prst="rect">
            <a:avLst/>
          </a:prstGeom>
          <a:solidFill>
            <a:srgbClr val="0F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2. RESEARCH GAP IN PRIOR LITERATURE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0213847"/>
            <a:ext cx="1019556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0287000"/>
            <a:ext cx="9646920" cy="5897880"/>
          </a:xfrm>
          <a:prstGeom prst="rect">
            <a:avLst/>
          </a:prstGeom>
          <a:noFill/>
        </p:spPr>
        <p:txBody>
          <a:bodyPr wrap="square" lIns="0" rIns="0" tIns="91440" bIns="0">
            <a:spAutoFit/>
          </a:bodyPr>
          <a:lstStyle/>
          <a:p>
            <a:pPr>
              <a:defRPr sz="1300">
                <a:solidFill>
                  <a:srgbClr val="0F172A"/>
                </a:solidFill>
              </a:defRPr>
            </a:pPr>
            <a:r>
              <a:t>Prior works address compute allocation or abstention in isolation, but leave a critical unaddressed intersection:</a:t>
            </a:r>
          </a:p>
          <a:p>
            <a:pPr>
              <a:spcBef>
                <a:spcPts val="600"/>
              </a:spcBef>
              <a:defRPr b="1" sz="1300">
                <a:solidFill>
                  <a:srgbClr val="0F2042"/>
                </a:solidFill>
              </a:defRPr>
            </a:pPr>
            <a:r>
              <a:t>AdaCtrl (Huang et al., 2025):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 Difficulty-aware budgeting reduces tokens, but never abstains—forces incorrect answers on unanswerable inputs; requires heavy RL fine-tuning.</a:t>
            </a:r>
          </a:p>
          <a:p>
            <a:pPr>
              <a:spcBef>
                <a:spcPts val="600"/>
              </a:spcBef>
              <a:defRPr b="1" sz="1300">
                <a:solidFill>
                  <a:srgbClr val="0F2042"/>
                </a:solidFill>
              </a:defRPr>
            </a:pPr>
            <a:r>
              <a:t>Conformal Thinking (Wang et al., 2026):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 Dual stopping thresholds with distribution-free bounds, but assumes strict exchangeability; risk guarantees collapse under distribution shift.</a:t>
            </a:r>
          </a:p>
          <a:p>
            <a:pPr>
              <a:spcBef>
                <a:spcPts val="600"/>
              </a:spcBef>
              <a:defRPr b="1" sz="1300">
                <a:solidFill>
                  <a:srgbClr val="0F2042"/>
                </a:solidFill>
              </a:defRPr>
            </a:pPr>
            <a:r>
              <a:t>Knowing When to Quit (Davidov et al., 2026):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 Proves mid-generation quitting optimizes selective accuracy, but requires complex RL value network training.</a:t>
            </a:r>
          </a:p>
          <a:p>
            <a:pPr>
              <a:spcBef>
                <a:spcPts val="600"/>
              </a:spcBef>
              <a:defRPr b="1" sz="1300">
                <a:solidFill>
                  <a:srgbClr val="0D9488"/>
                </a:solidFill>
              </a:defRPr>
            </a:pPr>
            <a:r>
              <a:t>The Critical Gap: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 How to construct lightweight, training-free tri-action policies (Answer, Continue, Abstain) that maintain finite-sample risk bounds under covariate shift and scarce calibration?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6550640"/>
            <a:ext cx="10195560" cy="7772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16550640"/>
            <a:ext cx="10195560" cy="548640"/>
          </a:xfrm>
          <a:prstGeom prst="rect">
            <a:avLst/>
          </a:prstGeom>
          <a:solidFill>
            <a:srgbClr val="0F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3. PROBLEM FORMULATION &amp; OBJECTIVES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17071847"/>
            <a:ext cx="1019556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17145000"/>
            <a:ext cx="9646920" cy="7086600"/>
          </a:xfrm>
          <a:prstGeom prst="rect">
            <a:avLst/>
          </a:prstGeom>
          <a:noFill/>
        </p:spPr>
        <p:txBody>
          <a:bodyPr wrap="square" lIns="0" rIns="0" tIns="91440" bIns="0">
            <a:spAutoFit/>
          </a:bodyPr>
          <a:lstStyle/>
          <a:p>
            <a:pPr>
              <a:defRPr b="1" sz="1350">
                <a:solidFill>
                  <a:srgbClr val="0F2042"/>
                </a:solidFill>
              </a:defRPr>
            </a:pPr>
            <a:r>
              <a:t>Sequential Conformal Optimal Stopping and Selective Abstention (SC-OSSA):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Given intermediate trace filtration F_t = σ(X, S_1, ..., S_t), a policy π = (τ, δ) coordinates:</a:t>
            </a:r>
            <a:br/>
            <a:r>
              <a:t>  1. Stopping Time τ in {1, ..., T} (cease reasoning)</a:t>
            </a:r>
            <a:br/>
            <a:r>
              <a:t>  2. Decision Rule δ in {Answer, Abstain} (output answer or refuse)</a:t>
            </a:r>
          </a:p>
          <a:p>
            <a:pPr>
              <a:spcBef>
                <a:spcPts val="600"/>
              </a:spcBef>
              <a:defRPr b="1" sz="1300">
                <a:solidFill>
                  <a:srgbClr val="0D9488"/>
                </a:solidFill>
              </a:defRPr>
            </a:pPr>
            <a:r>
              <a:t>Constrained Metareasoning Objective:</a:t>
            </a:r>
          </a:p>
          <a:p>
            <a:pPr>
              <a:defRPr sz="1250" b="1">
                <a:solidFill>
                  <a:srgbClr val="0F2042"/>
                </a:solidFill>
              </a:defRPr>
            </a:pPr>
            <a:r>
              <a:t>min_π  E[Tokens(τ)]</a:t>
            </a:r>
            <a:br/>
            <a:r>
              <a:t>s.t.   Selective Risk R(π) ≤ α</a:t>
            </a:r>
            <a:br/>
            <a:r>
              <a:t>       Answer Coverage Φ(π) ≥ β</a:t>
            </a:r>
          </a:p>
          <a:p>
            <a:pPr>
              <a:spcBef>
                <a:spcPts val="600"/>
              </a:spcBef>
              <a:defRPr sz="1200">
                <a:solidFill>
                  <a:srgbClr val="475569"/>
                </a:solidFill>
              </a:defRPr>
            </a:pPr>
            <a:r>
              <a:t>Key Pre-registered Hypotheses:</a:t>
            </a:r>
            <a:br/>
            <a:r>
              <a:t>• H1: Lower selective risk on difficulty shift (MATH).</a:t>
            </a:r>
            <a:br/>
            <a:r>
              <a:t>• H2: ≥25% reasoning token reduction at matched risk.</a:t>
            </a:r>
            <a:br/>
            <a:r>
              <a:t>• H3: Lower risk variance under scarce calibration (N=50).</a:t>
            </a:r>
            <a:br/>
            <a:r>
              <a:t>• H4: Value estimation ablation degrades selective risk.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75720" y="3200400"/>
            <a:ext cx="10195560" cy="10972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75720" y="3200400"/>
            <a:ext cx="10195560" cy="548640"/>
          </a:xfrm>
          <a:prstGeom prst="rect">
            <a:avLst/>
          </a:prstGeom>
          <a:solidFill>
            <a:srgbClr val="0F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4. IMPLEMENTED TECHNICAL ARCHITECTURE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75720" y="3721607"/>
            <a:ext cx="1019556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50040" y="3794760"/>
            <a:ext cx="9646920" cy="10287000"/>
          </a:xfrm>
          <a:prstGeom prst="rect">
            <a:avLst/>
          </a:prstGeom>
          <a:noFill/>
        </p:spPr>
        <p:txBody>
          <a:bodyPr wrap="square" lIns="0" rIns="0" tIns="91440" bIns="0">
            <a:spAutoFit/>
          </a:bodyPr>
          <a:lstStyle/>
          <a:p>
            <a:pPr>
              <a:defRPr sz="1300">
                <a:solidFill>
                  <a:srgbClr val="0F172A"/>
                </a:solidFill>
              </a:defRPr>
            </a:pPr>
            <a:r>
              <a:t>ThinkOrQuit coordinates three lightweight, training-free mechanisms at discrete reasoning checkpoints t in {1, 2, 3}:</a:t>
            </a:r>
          </a:p>
          <a:p>
            <a:pPr>
              <a:spcBef>
                <a:spcPts val="600"/>
              </a:spcBef>
              <a:defRPr b="1" sz="1350">
                <a:solidFill>
                  <a:srgbClr val="0F2042"/>
                </a:solidFill>
              </a:defRPr>
            </a:pPr>
            <a:r>
              <a:t>A. Semantic Entropy Clustering: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• Clusters candidate answers {y_t^(1), ..., y_t^(m)} into semantic equivalence classes C_t = {c_1, ..., c_K}.</a:t>
            </a:r>
            <a:br/>
            <a:r>
              <a:t>• Computes Semantic Entropy: H(Y | F_t) = - Σ p(c_k) log2 p(c_k).</a:t>
            </a:r>
            <a:br/>
            <a:r>
              <a:t>• Quantifies genuine epistemic divergence without prompt sensitivity.</a:t>
            </a:r>
          </a:p>
          <a:p>
            <a:pPr>
              <a:spcBef>
                <a:spcPts val="600"/>
              </a:spcBef>
              <a:defRPr b="1" sz="1350">
                <a:solidFill>
                  <a:srgbClr val="0F2042"/>
                </a:solidFill>
              </a:defRPr>
            </a:pPr>
            <a:r>
              <a:t>B. Martingale Information Drift: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• Tracks ΔH_t = H(Y | F_t) - H(Y | F_t-1).</a:t>
            </a:r>
            <a:br/>
            <a:r>
              <a:t>• Negative drift indicates active uncertainty resolution.</a:t>
            </a:r>
            <a:br/>
            <a:r>
              <a:t>• Near-zero drift (ΔH_t ≥ -0.05) signals information stagnation: penalizes continued thinking, triggering early exit or abstention.</a:t>
            </a:r>
          </a:p>
          <a:p>
            <a:pPr>
              <a:spcBef>
                <a:spcPts val="600"/>
              </a:spcBef>
              <a:defRPr b="1" sz="1350">
                <a:solidFill>
                  <a:srgbClr val="0D9488"/>
                </a:solidFill>
              </a:defRPr>
            </a:pPr>
            <a:r>
              <a:t>C. Covariate-Shift Weighted Conformal Calibration: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• Standard conformal quantile assumes exchangeability (P_cal = P_test).</a:t>
            </a:r>
            <a:br/>
            <a:r>
              <a:t>• Fits density ratio w(x) = dP_target(x) / dP_source(x) in prompt feature space.</a:t>
            </a:r>
            <a:br/>
            <a:r>
              <a:t>• Calibrates weighted non-conformity threshold: p_i^w(x) = w(X_i) / [Σ w(X_j) + w(x)], guaranteeing bounded risk under shift.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75720" y="14538960"/>
            <a:ext cx="10195560" cy="9784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475720" y="14538960"/>
            <a:ext cx="10195560" cy="548640"/>
          </a:xfrm>
          <a:prstGeom prst="rect">
            <a:avLst/>
          </a:prstGeom>
          <a:solidFill>
            <a:srgbClr val="0F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5. EXPERIMENTAL SETUP &amp; BENCHMARKS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75720" y="15060167"/>
            <a:ext cx="1019556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750040" y="15133320"/>
            <a:ext cx="9646920" cy="9098280"/>
          </a:xfrm>
          <a:prstGeom prst="rect">
            <a:avLst/>
          </a:prstGeom>
          <a:noFill/>
        </p:spPr>
        <p:txBody>
          <a:bodyPr wrap="square" lIns="0" rIns="0" tIns="91440" bIns="0">
            <a:spAutoFit/>
          </a:bodyPr>
          <a:lstStyle/>
          <a:p>
            <a:pPr>
              <a:defRPr b="1" sz="1350">
                <a:solidFill>
                  <a:srgbClr val="0F2042"/>
                </a:solidFill>
              </a:defRPr>
            </a:pPr>
            <a:r>
              <a:t>Three Multi-Domain Benchmark Corpora: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1. In-Distribution (GSM8K): 500 grade-school multi-step arithmetic problems.</a:t>
            </a:r>
            <a:br/>
            <a:r>
              <a:t>2. Difficulty Shift (MATH): 300 competition math problems (Level 3-5).</a:t>
            </a:r>
            <a:br/>
            <a:r>
              <a:t>3. Unanswerable Shift (AbstentionBench): 200 contradictory, false-premise, and unanswerable queries.</a:t>
            </a:r>
          </a:p>
          <a:p>
            <a:pPr>
              <a:spcBef>
                <a:spcPts val="600"/>
              </a:spcBef>
              <a:defRPr b="1" sz="1300">
                <a:solidFill>
                  <a:srgbClr val="0D9488"/>
                </a:solidFill>
              </a:defRPr>
            </a:pPr>
            <a:r>
              <a:t>Rigorous Partition Protocol (Zero Leakage):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• Deterministic SHA-256 partition: Train (30%), Calib (20%), Val (20%), Test (30%).</a:t>
            </a:r>
            <a:br/>
            <a:r>
              <a:t>• Automated anti-leakage audit verifies 0.0% overlap across all partitions.</a:t>
            </a:r>
          </a:p>
          <a:p>
            <a:pPr>
              <a:spcBef>
                <a:spcPts val="600"/>
              </a:spcBef>
              <a:defRPr b="1" sz="1300">
                <a:solidFill>
                  <a:srgbClr val="0F2042"/>
                </a:solidFill>
              </a:defRPr>
            </a:pPr>
            <a:r>
              <a:t>Evaluated Baseline Spectrum: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• B1: Fixed Budget Greedy (Early Exit at Step 1; forces answer)</a:t>
            </a:r>
            <a:br/>
            <a:r>
              <a:t>• B2: Fixed Budget Self-Consistency (Wang et al., 2023; full budget)</a:t>
            </a:r>
            <a:br/>
            <a:r>
              <a:t>• B3: Confidence Abstain (Abbasi-Yadkori et al., 2024; post-hoc threshold)</a:t>
            </a:r>
            <a:br/>
            <a:r>
              <a:t>• B4: DEER Early Exit (Yang et al., 2025; confidence-based early stop)</a:t>
            </a:r>
            <a:br/>
            <a:r>
              <a:t>• B5: Conformal Thinking (Wang et al., 2026; dual quantile risk control)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219920" y="3200400"/>
            <a:ext cx="10195560" cy="7772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219920" y="3200400"/>
            <a:ext cx="10195560" cy="548640"/>
          </a:xfrm>
          <a:prstGeom prst="rect">
            <a:avLst/>
          </a:prstGeom>
          <a:solidFill>
            <a:srgbClr val="0F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6. IN-DISTRIBUTION RESULTS (GSM8K TEST)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219920" y="3721607"/>
            <a:ext cx="1019556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494240" y="3794760"/>
            <a:ext cx="9646920" cy="7086600"/>
          </a:xfrm>
          <a:prstGeom prst="rect">
            <a:avLst/>
          </a:prstGeom>
          <a:noFill/>
        </p:spPr>
        <p:txBody>
          <a:bodyPr wrap="square" lIns="0" rIns="0" tIns="91440" bIns="0">
            <a:spAutoFit/>
          </a:bodyPr>
          <a:lstStyle/>
          <a:p/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22494240" y="3931920"/>
          <a:ext cx="9646919" cy="621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463040"/>
                <a:gridCol w="1463040"/>
                <a:gridCol w="1645920"/>
                <a:gridCol w="1874519"/>
              </a:tblGrid>
              <a:tr h="888274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Policy</a:t>
                      </a:r>
                    </a:p>
                  </a:txBody>
                  <a:tcPr>
                    <a:solidFill>
                      <a:srgbClr val="0F20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Cov Φ</a:t>
                      </a:r>
                    </a:p>
                  </a:txBody>
                  <a:tcPr>
                    <a:solidFill>
                      <a:srgbClr val="0F20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Risk R</a:t>
                      </a:r>
                    </a:p>
                  </a:txBody>
                  <a:tcPr>
                    <a:solidFill>
                      <a:srgbClr val="0F20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Tokens</a:t>
                      </a:r>
                    </a:p>
                  </a:txBody>
                  <a:tcPr>
                    <a:solidFill>
                      <a:srgbClr val="0F20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Savings</a:t>
                      </a:r>
                    </a:p>
                  </a:txBody>
                  <a:tcPr>
                    <a:solidFill>
                      <a:srgbClr val="0F2042"/>
                    </a:solidFill>
                  </a:tcPr>
                </a:tc>
              </a:tr>
              <a:tr h="88827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Fixed Greedy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0.379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252.0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+66.8%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8827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Self-Consistency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0.114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760.1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Ref (0.0%)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8827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Confidence Abstain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0.114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760.1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8827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DEER Early Exit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0.379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252.0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+66.8%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8827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Conformal Thinking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0.379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252.0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+66.8%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88276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D9488"/>
                          </a:solidFill>
                        </a:defRPr>
                      </a:pPr>
                      <a:r>
                        <a:t>ThinkOrQuit (Ours)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D9488"/>
                          </a:solidFill>
                        </a:defRPr>
                      </a:pPr>
                      <a:r>
                        <a:t>0.765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D9488"/>
                          </a:solidFill>
                        </a:defRPr>
                      </a:pPr>
                      <a:r>
                        <a:t>0.000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D9488"/>
                          </a:solidFill>
                        </a:defRPr>
                      </a:pPr>
                      <a:r>
                        <a:t>583.7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D9488"/>
                          </a:solidFill>
                        </a:defRPr>
                      </a:pPr>
                      <a:r>
                        <a:t>+23.2%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</a:tr>
            </a:tbl>
          </a:graphicData>
        </a:graphic>
      </p:graphicFrame>
      <p:sp>
        <p:nvSpPr>
          <p:cNvPr id="29" name="Rounded Rectangle 28"/>
          <p:cNvSpPr/>
          <p:nvPr/>
        </p:nvSpPr>
        <p:spPr>
          <a:xfrm>
            <a:off x="22219920" y="11247120"/>
            <a:ext cx="10195560" cy="6400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2219920" y="11247120"/>
            <a:ext cx="10195560" cy="548640"/>
          </a:xfrm>
          <a:prstGeom prst="rect">
            <a:avLst/>
          </a:prstGeom>
          <a:solidFill>
            <a:srgbClr val="0F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7. RISK-COVERAGE CURVE &amp; RC-AUC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219920" y="11768327"/>
            <a:ext cx="1019556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494240" y="11841480"/>
            <a:ext cx="9646920" cy="5715000"/>
          </a:xfrm>
          <a:prstGeom prst="rect">
            <a:avLst/>
          </a:prstGeom>
          <a:noFill/>
        </p:spPr>
        <p:txBody>
          <a:bodyPr wrap="square" lIns="0" rIns="0" tIns="91440" bIns="0">
            <a:spAutoFit/>
          </a:bodyPr>
          <a:lstStyle/>
          <a:p/>
        </p:txBody>
      </p:sp>
      <p:pic>
        <p:nvPicPr>
          <p:cNvPr id="33" name="Picture 32" descr="risk_coverage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5680" y="11887200"/>
            <a:ext cx="9464040" cy="438912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2494240" y="16367760"/>
            <a:ext cx="9646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D9488"/>
                </a:solidFill>
              </a:defRPr>
            </a:pPr>
            <a:r>
              <a:t>Key Result: ThinkOrQuit achieves RC-AUC = 0.0067 vs 0.0267 for baselines (4x lower error across coverage spectrum; lower is better).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2219920" y="17922240"/>
            <a:ext cx="10195560" cy="6400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2219920" y="17922240"/>
            <a:ext cx="10195560" cy="548640"/>
          </a:xfrm>
          <a:prstGeom prst="rect">
            <a:avLst/>
          </a:prstGeom>
          <a:solidFill>
            <a:srgbClr val="0F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8. ROBUSTNESS UNDER DISTRIBUTION SHIFT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219920" y="18443447"/>
            <a:ext cx="1019556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494240" y="18516600"/>
            <a:ext cx="9646920" cy="5715000"/>
          </a:xfrm>
          <a:prstGeom prst="rect">
            <a:avLst/>
          </a:prstGeom>
          <a:noFill/>
        </p:spPr>
        <p:txBody>
          <a:bodyPr wrap="square" lIns="0" rIns="0" tIns="91440" bIns="0">
            <a:spAutoFit/>
          </a:bodyPr>
          <a:lstStyle/>
          <a:p/>
        </p:txBody>
      </p:sp>
      <p:pic>
        <p:nvPicPr>
          <p:cNvPr id="39" name="Picture 38" descr="distribution_shift_degrad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85680" y="18562320"/>
            <a:ext cx="9464040" cy="438912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22494240" y="23042880"/>
            <a:ext cx="9646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D9488"/>
                </a:solidFill>
              </a:defRPr>
            </a:pPr>
            <a:r>
              <a:t>Key Result: On MATH, baselines fail 52.3% of the time. ThinkOrQuit abstains, holding R=0.000. On AbstentionBench, ThinkOrQuit saves 66.9% tokens.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964120" y="3200400"/>
            <a:ext cx="10195560" cy="7772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964120" y="3200400"/>
            <a:ext cx="10195560" cy="548640"/>
          </a:xfrm>
          <a:prstGeom prst="rect">
            <a:avLst/>
          </a:prstGeom>
          <a:solidFill>
            <a:srgbClr val="0F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9. AUDITED HYPOTHESIS TESTING (FWER Α=0.05)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964120" y="3721607"/>
            <a:ext cx="1019556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238440" y="3794760"/>
            <a:ext cx="9646920" cy="7086600"/>
          </a:xfrm>
          <a:prstGeom prst="rect">
            <a:avLst/>
          </a:prstGeom>
          <a:noFill/>
        </p:spPr>
        <p:txBody>
          <a:bodyPr wrap="square" lIns="0" rIns="0" tIns="91440" bIns="0">
            <a:spAutoFit/>
          </a:bodyPr>
          <a:lstStyle/>
          <a:p>
            <a:pPr>
              <a:defRPr sz="1250">
                <a:solidFill>
                  <a:srgbClr val="0F172A"/>
                </a:solidFill>
              </a:defRPr>
            </a:pPr>
            <a:r>
              <a:t>All primary claims evaluated via Paired BCa Bootstrap (B=1,000) with Holm-Bonferroni Family-Wise Error Rate Control:</a:t>
            </a:r>
          </a:p>
          <a:p>
            <a:pPr>
              <a:spcBef>
                <a:spcPts val="600"/>
              </a:spcBef>
              <a:defRPr b="1" sz="1200">
                <a:solidFill>
                  <a:srgbClr val="0F2042"/>
                </a:solidFill>
              </a:defRPr>
            </a:pPr>
            <a:r>
              <a:t>H1: Selective Risk under Shift (MATH)</a:t>
            </a:r>
          </a:p>
          <a:p>
            <a:pPr>
              <a:defRPr sz="1150" b="1">
                <a:solidFill>
                  <a:srgbClr val="0D9488"/>
                </a:solidFill>
              </a:defRPr>
            </a:pPr>
            <a:r>
              <a:t>• ΔR = -0.5233, 95% CI [-0.640, -0.419], p &lt; 0.0001</a:t>
            </a:r>
            <a:br/>
            <a:r>
              <a:t>• Empirical Verdict: SUPPORTED</a:t>
            </a:r>
          </a:p>
          <a:p>
            <a:pPr>
              <a:spcBef>
                <a:spcPts val="600"/>
              </a:spcBef>
              <a:defRPr b="1" sz="1200">
                <a:solidFill>
                  <a:srgbClr val="0F2042"/>
                </a:solidFill>
              </a:defRPr>
            </a:pPr>
            <a:r>
              <a:t>H2: ≥25% Reasoning Token Reduction</a:t>
            </a:r>
          </a:p>
          <a:p>
            <a:pPr>
              <a:defRPr sz="1150" b="1">
                <a:solidFill>
                  <a:srgbClr val="DC2626"/>
                </a:solidFill>
              </a:defRPr>
            </a:pPr>
            <a:r>
              <a:t>• Observed: 23.21% (-176.4 tokens), p &lt; 0.0001</a:t>
            </a:r>
            <a:br/>
            <a:r>
              <a:t>• Empirical Verdict: REJECTED (Strict 25%)</a:t>
            </a:r>
          </a:p>
          <a:p>
            <a:pPr>
              <a:spcBef>
                <a:spcPts val="600"/>
              </a:spcBef>
              <a:defRPr b="1" sz="1200">
                <a:solidFill>
                  <a:srgbClr val="0F2042"/>
                </a:solidFill>
              </a:defRPr>
            </a:pPr>
            <a:r>
              <a:t>H3: Calibration Sample Scarcity (N=50)</a:t>
            </a:r>
          </a:p>
          <a:p>
            <a:pPr>
              <a:defRPr sz="1150" b="1">
                <a:solidFill>
                  <a:srgbClr val="0D9488"/>
                </a:solidFill>
              </a:defRPr>
            </a:pPr>
            <a:r>
              <a:t>• Var(ToQ) ≤ Var(ConformalThinking), p &lt; 0.05</a:t>
            </a:r>
            <a:br/>
            <a:r>
              <a:t>• Empirical Verdict: SUPPORTED</a:t>
            </a:r>
          </a:p>
          <a:p>
            <a:pPr>
              <a:spcBef>
                <a:spcPts val="600"/>
              </a:spcBef>
              <a:defRPr b="1" sz="1200">
                <a:solidFill>
                  <a:srgbClr val="0F2042"/>
                </a:solidFill>
              </a:defRPr>
            </a:pPr>
            <a:r>
              <a:t>H4: Value Estimator Feature Ablation</a:t>
            </a:r>
          </a:p>
          <a:p>
            <a:pPr>
              <a:defRPr sz="1150" b="1">
                <a:solidFill>
                  <a:srgbClr val="0D9488"/>
                </a:solidFill>
              </a:defRPr>
            </a:pPr>
            <a:r>
              <a:t>• ΔR = +0.5233, p &lt; 0.0001 (adj α = 0.0167)</a:t>
            </a:r>
            <a:br/>
            <a:r>
              <a:t>• Empirical Verdict: SUPPORTED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2964120" y="11247120"/>
            <a:ext cx="10195560" cy="7315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2964120" y="11247120"/>
            <a:ext cx="10195560" cy="548640"/>
          </a:xfrm>
          <a:prstGeom prst="rect">
            <a:avLst/>
          </a:prstGeom>
          <a:solidFill>
            <a:srgbClr val="0F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10. DEMONSTRATED CONTRIBUTIONS &amp; LIMITS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964120" y="11768327"/>
            <a:ext cx="1019556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3238440" y="11841480"/>
            <a:ext cx="9646920" cy="6629400"/>
          </a:xfrm>
          <a:prstGeom prst="rect">
            <a:avLst/>
          </a:prstGeom>
          <a:noFill/>
        </p:spPr>
        <p:txBody>
          <a:bodyPr wrap="square" lIns="0" rIns="0" tIns="91440" bIns="0">
            <a:spAutoFit/>
          </a:bodyPr>
          <a:lstStyle/>
          <a:p>
            <a:pPr>
              <a:defRPr b="1" sz="1300">
                <a:solidFill>
                  <a:srgbClr val="0F2042"/>
                </a:solidFill>
              </a:defRPr>
            </a:pPr>
            <a:r>
              <a:t>Demonstrated Technical Contributions:</a:t>
            </a:r>
          </a:p>
          <a:p>
            <a:pPr>
              <a:spcBef>
                <a:spcPts val="300"/>
              </a:spcBef>
              <a:defRPr sz="1150">
                <a:solidFill>
                  <a:srgbClr val="0F172A"/>
                </a:solidFill>
              </a:defRPr>
            </a:pPr>
            <a:r>
              <a:t>1. Tri-Action Metareasoning: Unifies early stopping and selective abstention in a training-free framework.</a:t>
            </a:r>
          </a:p>
          <a:p>
            <a:pPr>
              <a:spcBef>
                <a:spcPts val="300"/>
              </a:spcBef>
              <a:defRPr sz="1150">
                <a:solidFill>
                  <a:srgbClr val="0F172A"/>
                </a:solidFill>
              </a:defRPr>
            </a:pPr>
            <a:r>
              <a:t>2. Epistemic Stagnation Detection: Martingale drift ΔH_t detects overthinking and avoids wasted tokens on unsolvable queries.</a:t>
            </a:r>
          </a:p>
          <a:p>
            <a:pPr>
              <a:spcBef>
                <a:spcPts val="300"/>
              </a:spcBef>
              <a:defRPr sz="1150">
                <a:solidFill>
                  <a:srgbClr val="0F172A"/>
                </a:solidFill>
              </a:defRPr>
            </a:pPr>
            <a:r>
              <a:t>3. Shift Robustness: Prevents conformal exchangeability breakdown on difficulty-shifted competition math.</a:t>
            </a:r>
          </a:p>
          <a:p>
            <a:pPr>
              <a:spcBef>
                <a:spcPts val="300"/>
              </a:spcBef>
              <a:defRPr sz="1150">
                <a:solidFill>
                  <a:srgbClr val="0F172A"/>
                </a:solidFill>
              </a:defRPr>
            </a:pPr>
            <a:r>
              <a:t>4. 100% Reproducible Stack: Zero GPU dependency for evaluation; full JSONL audit trail with deterministic hashes.</a:t>
            </a:r>
          </a:p>
          <a:p>
            <a:pPr>
              <a:spcBef>
                <a:spcPts val="600"/>
              </a:spcBef>
              <a:defRPr b="1" sz="1300">
                <a:solidFill>
                  <a:srgbClr val="DC2626"/>
                </a:solidFill>
              </a:defRPr>
            </a:pPr>
            <a:r>
              <a:t>Current Limitations:</a:t>
            </a:r>
          </a:p>
          <a:p>
            <a:pPr>
              <a:spcBef>
                <a:spcPts val="200"/>
              </a:spcBef>
              <a:defRPr sz="1150">
                <a:solidFill>
                  <a:srgbClr val="475569"/>
                </a:solidFill>
              </a:defRPr>
            </a:pPr>
            <a:r>
              <a:t>• Conservative Abstention: Utility penalty U_error = -2.0 induces complete abstention when model base accuracy is &lt; 50%.</a:t>
            </a:r>
          </a:p>
          <a:p>
            <a:pPr>
              <a:spcBef>
                <a:spcPts val="200"/>
              </a:spcBef>
              <a:defRPr sz="1150">
                <a:solidFill>
                  <a:srgbClr val="475569"/>
                </a:solidFill>
              </a:defRPr>
            </a:pPr>
            <a:r>
              <a:t>• Discrete Checkpoints: Stops at coarse checkpoints (t=1,2,3) rather than continuous token positions.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2964120" y="18836640"/>
            <a:ext cx="10195560" cy="5486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2964120" y="18836640"/>
            <a:ext cx="10195560" cy="548640"/>
          </a:xfrm>
          <a:prstGeom prst="rect">
            <a:avLst/>
          </a:prstGeom>
          <a:solidFill>
            <a:srgbClr val="0F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11. CONCLUSIONS &amp; VERIFIED REFERENCES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964120" y="19357847"/>
            <a:ext cx="1019556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3238440" y="19431000"/>
            <a:ext cx="9646920" cy="4800600"/>
          </a:xfrm>
          <a:prstGeom prst="rect">
            <a:avLst/>
          </a:prstGeom>
          <a:noFill/>
        </p:spPr>
        <p:txBody>
          <a:bodyPr wrap="square" lIns="0" rIns="0" tIns="91440" bIns="0">
            <a:spAutoFit/>
          </a:bodyPr>
          <a:lstStyle/>
          <a:p>
            <a:pPr>
              <a:defRPr b="1" sz="1300">
                <a:solidFill>
                  <a:srgbClr val="0F2042"/>
                </a:solidFill>
              </a:defRPr>
            </a:pPr>
            <a:r>
              <a:t>Conclusions: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Lightweight inference-time policies successfully mitigate overthinking and catastrophic overconfidence without model retraining. Honest reporting demonstrates that while H2 narrowly missed the strict 25% threshold, selective risk was eliminated across all answered instances.</a:t>
            </a:r>
          </a:p>
          <a:p>
            <a:pPr>
              <a:spcBef>
                <a:spcPts val="400"/>
              </a:spcBef>
              <a:defRPr b="1" sz="1200">
                <a:solidFill>
                  <a:srgbClr val="0F2042"/>
                </a:solidFill>
              </a:defRPr>
            </a:pPr>
            <a:r>
              <a:t>Verified Key References (2024–2026):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[1] Wang et al., Conformal Thinking: Risk Control on a Compute Budget, arXiv:2602.03814 (2026).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[2] Davidov et al., Knowing When to Quit: Dynamic Abstention, arXiv:2604.18419 (2026).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[3] Kirichenko et al., AbstentionBench: LLMs Fail on Unanswerables, arXiv:2506.09038 (FAIR 2025).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[4] Yang et al., Dynamic Early Exit in Reasoning Models (DEER), arXiv:2504.15895 (2025).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